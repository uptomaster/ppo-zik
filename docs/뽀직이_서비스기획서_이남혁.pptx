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4572000" cy="4572000"/>
          </a:xfrm>
          <a:prstGeom prst="ellipse">
            <a:avLst/>
          </a:prstGeom>
          <a:solidFill>
            <a:srgbClr val="9D4EDD">
              <a:alpha val="8000"/>
            </a:srgbClr>
          </a:solidFill>
          <a:ln w="12700">
            <a:solidFill>
              <a:srgbClr val="9D4ED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FF6B00">
              <a:alpha val="10000"/>
            </a:srgbClr>
          </a:solidFill>
          <a:ln w="12700">
            <a:solidFill>
              <a:srgbClr val="FF6B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365760"/>
            <a:ext cx="3108960" cy="3108960"/>
          </a:xfrm>
          <a:prstGeom prst="ellipse">
            <a:avLst/>
          </a:prstGeom>
          <a:solidFill>
            <a:srgbClr val="FF6B00">
              <a:alpha val="14000"/>
            </a:srgbClr>
          </a:solidFill>
          <a:ln w="12700">
            <a:solidFill>
              <a:srgbClr val="FF6B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0"/>
            <a:ext cx="2194560" cy="2194560"/>
          </a:xfrm>
          <a:prstGeom prst="ellipse">
            <a:avLst/>
          </a:prstGeom>
          <a:solidFill>
            <a:srgbClr val="FF6B00">
              <a:alpha val="22000"/>
            </a:srgbClr>
          </a:solidFill>
          <a:ln w="12700">
            <a:solidFill>
              <a:srgbClr val="FF6B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7315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🚽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effectLst>
                  <a:glow rad="190500">
                    <a:srgbClr val="FF6B00">
                      <a:alpha val="50000"/>
                    </a:srgbClr>
                  </a:glow>
                </a:effectLs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뽀직이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화장실 건강 타이머 &amp; 장 건강 관리 앱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4041648"/>
            <a:ext cx="2743200" cy="384048"/>
          </a:xfrm>
          <a:prstGeom prst="rect">
            <a:avLst>
              <a:gd name="adj" fmla="val 50000"/>
            </a:avLst>
          </a:prstGeom>
          <a:solidFill>
            <a:srgbClr val="FF6B00">
              <a:alpha val="80000"/>
            </a:srgbClr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40416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UMC 기획 발표 · Plan파트 이남혁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95"/>
                </a:solidFill>
              </a:rPr>
              <a:t>Universal Mobile Club  |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4572000" cy="4572000"/>
          </a:xfrm>
          <a:prstGeom prst="ellipse">
            <a:avLst/>
          </a:prstGeom>
          <a:solidFill>
            <a:srgbClr val="9D4EDD">
              <a:alpha val="8000"/>
            </a:srgbClr>
          </a:solidFill>
          <a:ln w="12700">
            <a:solidFill>
              <a:srgbClr val="9D4ED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00BFFF">
              <a:alpha val="10000"/>
            </a:srgbClr>
          </a:solidFill>
          <a:ln w="12700">
            <a:solidFill>
              <a:srgbClr val="00B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A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4023360" cy="914400"/>
          </a:xfrm>
          <a:prstGeom prst="rect">
            <a:avLst/>
          </a:prstGeom>
          <a:solidFill>
            <a:srgbClr val="1A1535"/>
          </a:solidFill>
          <a:ln w="12700">
            <a:solidFill>
              <a:srgbClr val="FF6B00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63040"/>
            <a:ext cx="54864" cy="9144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60934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개요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9496" y="20482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뽀직이가 해결하는 문제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560320"/>
            <a:ext cx="4023360" cy="914400"/>
          </a:xfrm>
          <a:prstGeom prst="rect">
            <a:avLst/>
          </a:prstGeom>
          <a:solidFill>
            <a:srgbClr val="1A1535"/>
          </a:solidFill>
          <a:ln w="12700">
            <a:solidFill>
              <a:srgbClr val="FFD60A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560320"/>
            <a:ext cx="54864" cy="91440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270662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" y="31455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5가지 핵심 기능 소개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657600"/>
            <a:ext cx="4023360" cy="914400"/>
          </a:xfrm>
          <a:prstGeom prst="rect">
            <a:avLst/>
          </a:prstGeom>
          <a:solidFill>
            <a:srgbClr val="1A1535"/>
          </a:solidFill>
          <a:ln w="12700">
            <a:solidFill>
              <a:srgbClr val="00E5A0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657600"/>
            <a:ext cx="54864" cy="9144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80390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건강 분석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9496" y="42428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식단 추천 &amp; 건강 점수 시스템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1463040"/>
            <a:ext cx="4023360" cy="914400"/>
          </a:xfrm>
          <a:prstGeom prst="rect">
            <a:avLst/>
          </a:prstGeom>
          <a:solidFill>
            <a:srgbClr val="1A1535"/>
          </a:solidFill>
          <a:ln w="12700">
            <a:solidFill>
              <a:srgbClr val="FF2D78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463040"/>
            <a:ext cx="54864" cy="914400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160934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특별 알림 시스템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28616" y="20482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과다/부족 배변 감지 알고리즘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560320"/>
            <a:ext cx="4023360" cy="914400"/>
          </a:xfrm>
          <a:prstGeom prst="rect">
            <a:avLst/>
          </a:prstGeom>
          <a:solidFill>
            <a:srgbClr val="1A1535"/>
          </a:solidFill>
          <a:ln w="12700">
            <a:solidFill>
              <a:srgbClr val="00BFFF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560320"/>
            <a:ext cx="54864" cy="91440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270662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 &amp; 수익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928616" y="31455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규모 &amp; 비즈니스 모델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657600"/>
            <a:ext cx="4023360" cy="914400"/>
          </a:xfrm>
          <a:prstGeom prst="rect">
            <a:avLst/>
          </a:prstGeom>
          <a:solidFill>
            <a:srgbClr val="1A1535"/>
          </a:solidFill>
          <a:ln w="12700">
            <a:solidFill>
              <a:srgbClr val="C77DFF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657600"/>
            <a:ext cx="54864" cy="91440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380390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7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로드맵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28616" y="42428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일정 &amp; 마일스톤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0116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4389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0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개요 — 우리가 해결하는 문제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14400"/>
            <a:ext cx="192024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성인이 화장실에서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 사용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91440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914400"/>
            <a:ext cx="1920240" cy="7315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14813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12분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14600" y="1938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한국인 평균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화장실 체류 시간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91440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914400"/>
            <a:ext cx="1920240" cy="7315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17720" y="14813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1위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17720" y="1938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치질, 20·30대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항문 질환 발생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91440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914400"/>
            <a:ext cx="1920240" cy="73152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720840" y="14813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3분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720840" y="1938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초과 시 항문압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급격히 상승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651760"/>
            <a:ext cx="8321040" cy="1078992"/>
          </a:xfrm>
          <a:prstGeom prst="rect">
            <a:avLst/>
          </a:prstGeom>
          <a:solidFill>
            <a:srgbClr val="07050F"/>
          </a:solidFill>
          <a:ln w="12700">
            <a:solidFill>
              <a:srgbClr val="FF6B00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27432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핵심 인사이트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01752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화장실 체류 시간과 배변 패턴은 장·항문 건강과 직결되지만, 대부분의 사람들은 이를 무시합니다.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뽀직이는 귀엽고 재미있는 캐릭터를 통해 자연스럽게 건강한 화장실 습관을 만들어드립니다.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3886200"/>
            <a:ext cx="3931920" cy="777240"/>
          </a:xfrm>
          <a:prstGeom prst="rect">
            <a:avLst/>
          </a:prstGeom>
          <a:solidFill>
            <a:srgbClr val="FFF3E8"/>
          </a:solidFill>
          <a:ln w="12700">
            <a:solidFill>
              <a:srgbClr val="FF6B00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1363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 Problem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A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화장실 장시간 사용 → 치질·과민성대장 위험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70832" y="4023360"/>
            <a:ext cx="4023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00"/>
                </a:solidFill>
              </a:rPr>
              <a:t>→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4800600" y="3886200"/>
            <a:ext cx="3931920" cy="777240"/>
          </a:xfrm>
          <a:prstGeom prst="rect">
            <a:avLst/>
          </a:prstGeom>
          <a:solidFill>
            <a:srgbClr val="E8FFF6"/>
          </a:solidFill>
          <a:ln w="12700">
            <a:solidFill>
              <a:srgbClr val="00E5A0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91363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뽀직이 타이머 &amp; AI 건강 코치로 습관 개선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4572000" cy="4572000"/>
          </a:xfrm>
          <a:prstGeom prst="ellipse">
            <a:avLst/>
          </a:prstGeom>
          <a:solidFill>
            <a:srgbClr val="9D4EDD">
              <a:alpha val="8000"/>
            </a:srgbClr>
          </a:solidFill>
          <a:ln w="12700">
            <a:solidFill>
              <a:srgbClr val="9D4ED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00E5A0">
              <a:alpha val="10000"/>
            </a:srgbClr>
          </a:solidFill>
          <a:ln w="12700">
            <a:solidFill>
              <a:srgbClr val="00E5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54864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116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핵심 기능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67665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7A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Features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651760" cy="1828800"/>
          </a:xfrm>
          <a:prstGeom prst="rect">
            <a:avLst/>
          </a:prstGeom>
          <a:solidFill>
            <a:srgbClr val="1A1535"/>
          </a:solidFill>
          <a:ln w="12700">
            <a:solidFill>
              <a:srgbClr val="FF6B00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265176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207008"/>
            <a:ext cx="457200" cy="457200"/>
          </a:xfrm>
          <a:prstGeom prst="rect">
            <a:avLst/>
          </a:prstGeom>
          <a:solidFill>
            <a:srgbClr val="FF6B00">
              <a:alpha val="75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122529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 타이머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16459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착석 즉시 타이머 시작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경고 시스템(1분→3분→5분→7분)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캐릭터 표정 변화로 위험도 시각화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651760" cy="1828800"/>
          </a:xfrm>
          <a:prstGeom prst="rect">
            <a:avLst/>
          </a:prstGeom>
          <a:solidFill>
            <a:srgbClr val="1A1535"/>
          </a:solidFill>
          <a:ln w="12700">
            <a:solidFill>
              <a:srgbClr val="FFD60A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97280"/>
            <a:ext cx="2651760" cy="6400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5848" y="1207008"/>
            <a:ext cx="457200" cy="457200"/>
          </a:xfrm>
          <a:prstGeom prst="rect">
            <a:avLst/>
          </a:prstGeom>
          <a:solidFill>
            <a:srgbClr val="FFD60A">
              <a:alpha val="75000"/>
            </a:srgbClr>
          </a:solidFill>
          <a:ln w="12700">
            <a:solidFill>
              <a:srgbClr val="FFD60A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86200" y="122529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뽀직이 캐릭터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55848" y="16459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귀여운 캐릭터로 친근한 UX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6단계 감정 표현 (행복→패닉→사망)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경과에 따른 색·효과 변화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2651760" cy="1828800"/>
          </a:xfrm>
          <a:prstGeom prst="rect">
            <a:avLst/>
          </a:prstGeom>
          <a:solidFill>
            <a:srgbClr val="1A1535"/>
          </a:solidFill>
          <a:ln w="12700">
            <a:solidFill>
              <a:srgbClr val="00BFFF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97280"/>
            <a:ext cx="265176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207008"/>
            <a:ext cx="457200" cy="457200"/>
          </a:xfrm>
          <a:prstGeom prst="rect">
            <a:avLst/>
          </a:prstGeom>
          <a:solidFill>
            <a:srgbClr val="00BFFF">
              <a:alpha val="75000"/>
            </a:srgbClr>
          </a:solidFill>
          <a:ln w="12700">
            <a:solidFill>
              <a:srgbClr val="00BF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122529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배변 기록 로그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6208" y="16459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Bristol Scale 7단계 변형 분류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색상·메모 기록 및 캘린더 조회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일별 상세 기록(시간·횟수·형태)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017520"/>
            <a:ext cx="2651760" cy="1828800"/>
          </a:xfrm>
          <a:prstGeom prst="rect">
            <a:avLst/>
          </a:prstGeom>
          <a:solidFill>
            <a:srgbClr val="1A1535"/>
          </a:solidFill>
          <a:ln w="12700">
            <a:solidFill>
              <a:srgbClr val="00E5A0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17520"/>
            <a:ext cx="265176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3127248"/>
            <a:ext cx="457200" cy="457200"/>
          </a:xfrm>
          <a:prstGeom prst="rect">
            <a:avLst/>
          </a:prstGeom>
          <a:solidFill>
            <a:srgbClr val="00E5A0">
              <a:alpha val="75000"/>
            </a:srgbClr>
          </a:solidFill>
          <a:ln w="12700">
            <a:solidFill>
              <a:srgbClr val="00E5A0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314553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식사 입력 &amp; 점수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" y="35661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아침/점심/저녁/간식 구분 입력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음식별 장건강 점수 자동 계산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건강 점수 실시간 산출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46120" y="3017520"/>
            <a:ext cx="2651760" cy="1828800"/>
          </a:xfrm>
          <a:prstGeom prst="rect">
            <a:avLst/>
          </a:prstGeom>
          <a:solidFill>
            <a:srgbClr val="1A1535"/>
          </a:solidFill>
          <a:ln w="12700">
            <a:solidFill>
              <a:srgbClr val="C77DFF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3017520"/>
            <a:ext cx="2651760" cy="6400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55848" y="3127248"/>
            <a:ext cx="457200" cy="457200"/>
          </a:xfrm>
          <a:prstGeom prst="rect">
            <a:avLst/>
          </a:prstGeom>
          <a:solidFill>
            <a:srgbClr val="C77DFF">
              <a:alpha val="75000"/>
            </a:srgbClr>
          </a:solidFill>
          <a:ln w="12700">
            <a:solidFill>
              <a:srgbClr val="C77DFF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5848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86200" y="314553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식단 추천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55848" y="35661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기반 맞춤형 식단 분석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배변 기록 + 식단 통합 분석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먹으면 좋은 음식 3가지 추천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26480" y="3017520"/>
            <a:ext cx="2651760" cy="1828800"/>
          </a:xfrm>
          <a:prstGeom prst="rect">
            <a:avLst/>
          </a:prstGeom>
          <a:solidFill>
            <a:srgbClr val="1A1535"/>
          </a:solidFill>
          <a:ln w="12700">
            <a:solidFill>
              <a:srgbClr val="FF2D78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3017520"/>
            <a:ext cx="2651760" cy="64008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36208" y="3127248"/>
            <a:ext cx="457200" cy="457200"/>
          </a:xfrm>
          <a:prstGeom prst="rect">
            <a:avLst/>
          </a:prstGeom>
          <a:solidFill>
            <a:srgbClr val="FF2D78">
              <a:alpha val="75000"/>
            </a:srgbClr>
          </a:solidFill>
          <a:ln w="1270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66560" y="314553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특별 알림 시스템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36208" y="35661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0회: 변비 경고 + 관리 가이드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5회 이상: 과다배변 의료 안내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완벽 패턴: 축하 배너 &amp; 포인트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011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AI 건강 분석 시스템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804672"/>
          </a:xfrm>
          <a:prstGeom prst="rect">
            <a:avLst/>
          </a:prstGeom>
          <a:solidFill>
            <a:srgbClr val="07050F"/>
          </a:solidFill>
          <a:ln w="12700">
            <a:solidFill>
              <a:srgbClr val="9D4EDD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9326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장건강 점수 산출 공식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배변 횟수 (25%) + 배변 시간 (30%) + 변 형태 Bristol (25%) + 식단 점수 (20%)  =  종합 점수 / 100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15727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E5A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828800"/>
            <a:ext cx="1572768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01952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85~100점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48716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훌륭해요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93976" y="1828800"/>
            <a:ext cx="15727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93976" y="1828800"/>
            <a:ext cx="1572768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93976" y="1901952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93976" y="228600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70~84점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93976" y="248716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좋아요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76472" y="1828800"/>
            <a:ext cx="15727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60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76472" y="1828800"/>
            <a:ext cx="1572768" cy="6400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76472" y="1901952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776472" y="228600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50~69점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76472" y="248716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58968" y="1828800"/>
            <a:ext cx="15727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0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58968" y="1828800"/>
            <a:ext cx="1572768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58968" y="1901952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58968" y="228600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30~49점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58968" y="248716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41464" y="1828800"/>
            <a:ext cx="15727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2D7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41464" y="1828800"/>
            <a:ext cx="1572768" cy="64008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41464" y="1901952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41464" y="228600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0~29점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41464" y="248716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3090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0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식단 추천 플로우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2104" y="3520440"/>
            <a:ext cx="731520" cy="731520"/>
          </a:xfrm>
          <a:prstGeom prst="ellipse">
            <a:avLst/>
          </a:prstGeom>
          <a:solidFill>
            <a:srgbClr val="FF6B00">
              <a:alpha val="80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" y="3520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🚽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11480" y="43159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배변 기록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600200" y="3886200"/>
            <a:ext cx="493776" cy="0"/>
          </a:xfrm>
          <a:prstGeom prst="line">
            <a:avLst/>
          </a:prstGeom>
          <a:noFill/>
          <a:ln w="19050">
            <a:solidFill>
              <a:srgbClr val="BBAADD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514600" y="3520440"/>
            <a:ext cx="731520" cy="731520"/>
          </a:xfrm>
          <a:prstGeom prst="ellipse">
            <a:avLst/>
          </a:prstGeom>
          <a:solidFill>
            <a:srgbClr val="00E5A0">
              <a:alpha val="80000"/>
            </a:srgbClr>
          </a:solidFill>
          <a:ln w="12700">
            <a:solidFill>
              <a:srgbClr val="00E5A0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3520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🥗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2093976" y="43159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식사 데이터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82696" y="3886200"/>
            <a:ext cx="493776" cy="0"/>
          </a:xfrm>
          <a:prstGeom prst="line">
            <a:avLst/>
          </a:prstGeom>
          <a:noFill/>
          <a:ln w="19050">
            <a:solidFill>
              <a:srgbClr val="BBAADD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197096" y="3520440"/>
            <a:ext cx="731520" cy="731520"/>
          </a:xfrm>
          <a:prstGeom prst="ellipse">
            <a:avLst/>
          </a:prstGeom>
          <a:solidFill>
            <a:srgbClr val="9D4EDD">
              <a:alpha val="80000"/>
            </a:srgbClr>
          </a:solidFill>
          <a:ln w="12700">
            <a:solidFill>
              <a:srgbClr val="9D4EDD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97096" y="3520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776472" y="43159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65192" y="3886200"/>
            <a:ext cx="493776" cy="0"/>
          </a:xfrm>
          <a:prstGeom prst="line">
            <a:avLst/>
          </a:prstGeom>
          <a:noFill/>
          <a:ln w="19050">
            <a:solidFill>
              <a:srgbClr val="BBAADD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5879592" y="3520440"/>
            <a:ext cx="731520" cy="731520"/>
          </a:xfrm>
          <a:prstGeom prst="ellipse">
            <a:avLst/>
          </a:prstGeom>
          <a:solidFill>
            <a:srgbClr val="FFD60A">
              <a:alpha val="80000"/>
            </a:srgbClr>
          </a:solidFill>
          <a:ln w="12700">
            <a:solidFill>
              <a:srgbClr val="FFD60A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79592" y="3520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458968" y="43159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식단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647688" y="3886200"/>
            <a:ext cx="493776" cy="0"/>
          </a:xfrm>
          <a:prstGeom prst="line">
            <a:avLst/>
          </a:prstGeom>
          <a:noFill/>
          <a:ln w="19050">
            <a:solidFill>
              <a:srgbClr val="BBAADD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7562088" y="3520440"/>
            <a:ext cx="731520" cy="731520"/>
          </a:xfrm>
          <a:prstGeom prst="ellipse">
            <a:avLst/>
          </a:prstGeom>
          <a:solidFill>
            <a:srgbClr val="00BFFF">
              <a:alpha val="80000"/>
            </a:srgbClr>
          </a:solidFill>
          <a:ln w="12700">
            <a:solidFill>
              <a:srgbClr val="00BFFF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62088" y="3520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7141464" y="43159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업데이트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4572000" cy="4572000"/>
          </a:xfrm>
          <a:prstGeom prst="ellipse">
            <a:avLst/>
          </a:prstGeom>
          <a:solidFill>
            <a:srgbClr val="9D4EDD">
              <a:alpha val="8000"/>
            </a:srgbClr>
          </a:solidFill>
          <a:ln w="12700">
            <a:solidFill>
              <a:srgbClr val="9D4ED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FF2D78">
              <a:alpha val="10000"/>
            </a:srgbClr>
          </a:solidFill>
          <a:ln w="12700">
            <a:solidFill>
              <a:srgbClr val="FF2D7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54864" cy="502920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1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특별 알림 시스템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743200" cy="3840480"/>
          </a:xfrm>
          <a:prstGeom prst="rect">
            <a:avLst/>
          </a:prstGeom>
          <a:solidFill>
            <a:srgbClr val="1A1535"/>
          </a:solidFill>
          <a:ln w="12700">
            <a:solidFill>
              <a:srgbClr val="FF6B00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27432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🫙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15568" y="10972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0회 — 변비 경고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141732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화장실 기록 없음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" y="1874520"/>
            <a:ext cx="201168" cy="201168"/>
          </a:xfrm>
          <a:prstGeom prst="ellipse">
            <a:avLst/>
          </a:prstGeom>
          <a:solidFill>
            <a:srgbClr val="FF6B00">
              <a:alpha val="70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847088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1~3회가 건강한 배변 횟수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" y="2532888"/>
            <a:ext cx="201168" cy="201168"/>
          </a:xfrm>
          <a:prstGeom prst="ellipse">
            <a:avLst/>
          </a:prstGeom>
          <a:solidFill>
            <a:srgbClr val="FF6B00">
              <a:alpha val="70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505456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 2L 이상 + 식이섬유 섭취 알림 발송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2064" y="3191256"/>
            <a:ext cx="201168" cy="201168"/>
          </a:xfrm>
          <a:prstGeom prst="ellipse">
            <a:avLst/>
          </a:prstGeom>
          <a:solidFill>
            <a:srgbClr val="FF6B00">
              <a:alpha val="70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163824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2일 이상 지속 시 전문의 상담 권고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" y="3849624"/>
            <a:ext cx="201168" cy="201168"/>
          </a:xfrm>
          <a:prstGeom prst="ellipse">
            <a:avLst/>
          </a:prstGeom>
          <a:solidFill>
            <a:srgbClr val="FF6B00">
              <a:alpha val="70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822192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아침 공복 따뜻한 물 마시기 가이드 제공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960120"/>
            <a:ext cx="2743200" cy="3840480"/>
          </a:xfrm>
          <a:prstGeom prst="rect">
            <a:avLst/>
          </a:prstGeom>
          <a:solidFill>
            <a:srgbClr val="1A1535"/>
          </a:solidFill>
          <a:ln w="12700">
            <a:solidFill>
              <a:srgbClr val="FF2D78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960120"/>
            <a:ext cx="2743200" cy="64008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0789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🚨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041648" y="10972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5회↑ — 과다배변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41648" y="141732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5회 이상 방문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38144" y="1874520"/>
            <a:ext cx="201168" cy="201168"/>
          </a:xfrm>
          <a:prstGeom prst="ellipse">
            <a:avLst/>
          </a:prstGeom>
          <a:solidFill>
            <a:srgbClr val="FF2D78">
              <a:alpha val="70000"/>
            </a:srgbClr>
          </a:solidFill>
          <a:ln w="1270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12464" y="1847088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과민성대장증후군(IBS) 의심 증상 안내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38144" y="2532888"/>
            <a:ext cx="201168" cy="201168"/>
          </a:xfrm>
          <a:prstGeom prst="ellipse">
            <a:avLst/>
          </a:prstGeom>
          <a:solidFill>
            <a:srgbClr val="FF2D78">
              <a:alpha val="70000"/>
            </a:srgbClr>
          </a:solidFill>
          <a:ln w="1270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12464" y="2505456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자극적·기름진 음식 회피 추천 식단 제공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38144" y="3191256"/>
            <a:ext cx="201168" cy="201168"/>
          </a:xfrm>
          <a:prstGeom prst="ellipse">
            <a:avLst/>
          </a:prstGeom>
          <a:solidFill>
            <a:srgbClr val="FF2D78">
              <a:alpha val="70000"/>
            </a:srgbClr>
          </a:solidFill>
          <a:ln w="1270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12464" y="3163824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3일 이상 지속 시 의료기관 방문 강력 권고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38144" y="3849624"/>
            <a:ext cx="201168" cy="201168"/>
          </a:xfrm>
          <a:prstGeom prst="ellipse">
            <a:avLst/>
          </a:prstGeom>
          <a:solidFill>
            <a:srgbClr val="FF2D78">
              <a:alpha val="70000"/>
            </a:srgbClr>
          </a:solidFill>
          <a:ln w="1270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12464" y="3822192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스트레스·복통 동반 여부 체크 프롬프트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960120"/>
            <a:ext cx="2743200" cy="3840480"/>
          </a:xfrm>
          <a:prstGeom prst="rect">
            <a:avLst/>
          </a:prstGeom>
          <a:solidFill>
            <a:srgbClr val="1A1535"/>
          </a:solidFill>
          <a:ln w="12700">
            <a:solidFill>
              <a:srgbClr val="00E5A0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960120"/>
            <a:ext cx="27432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10789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🎉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967728" y="10972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완벽 패턴 🌟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67728" y="141732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이상적 배변 + 점수 80점↑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64224" y="1874520"/>
            <a:ext cx="201168" cy="201168"/>
          </a:xfrm>
          <a:prstGeom prst="ellipse">
            <a:avLst/>
          </a:prstGeom>
          <a:solidFill>
            <a:srgbClr val="00E5A0">
              <a:alpha val="70000"/>
            </a:srgbClr>
          </a:solidFill>
          <a:ln w="12700">
            <a:solidFill>
              <a:srgbClr val="00E5A0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38544" y="1847088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축하 배너 + 뽀직이 왕관 이모지 연출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64224" y="2532888"/>
            <a:ext cx="201168" cy="201168"/>
          </a:xfrm>
          <a:prstGeom prst="ellipse">
            <a:avLst/>
          </a:prstGeom>
          <a:solidFill>
            <a:srgbClr val="00E5A0">
              <a:alpha val="70000"/>
            </a:srgbClr>
          </a:solidFill>
          <a:ln w="12700">
            <a:solidFill>
              <a:srgbClr val="00E5A0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8544" y="2505456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 건강일 카운터 (스트릭) 증가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64224" y="3191256"/>
            <a:ext cx="201168" cy="201168"/>
          </a:xfrm>
          <a:prstGeom prst="ellipse">
            <a:avLst/>
          </a:prstGeom>
          <a:solidFill>
            <a:srgbClr val="00E5A0">
              <a:alpha val="70000"/>
            </a:srgbClr>
          </a:solidFill>
          <a:ln w="12700">
            <a:solidFill>
              <a:srgbClr val="00E5A0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8544" y="3163824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베스트 기록 달성 시 특별 배지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64224" y="3849624"/>
            <a:ext cx="201168" cy="201168"/>
          </a:xfrm>
          <a:prstGeom prst="ellipse">
            <a:avLst/>
          </a:prstGeom>
          <a:solidFill>
            <a:srgbClr val="00E5A0">
              <a:alpha val="70000"/>
            </a:srgbClr>
          </a:solidFill>
          <a:ln w="12700">
            <a:solidFill>
              <a:srgbClr val="00E5A0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8544" y="3822192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공유 가능한 리워드 카드 생성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011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기대 효과 &amp; 수익 모델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4069080" cy="2011680"/>
          </a:xfrm>
          <a:prstGeom prst="rect">
            <a:avLst/>
          </a:prstGeom>
          <a:solidFill>
            <a:srgbClr val="07050F"/>
          </a:solidFill>
          <a:ln w="12700">
            <a:solidFill>
              <a:srgbClr val="00BFFF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시장 규모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2.1조원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31720" y="1298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헬스케어 시장 (2025)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7647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850만명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31720" y="1801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치질 환자 수 (연간)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2677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31720" y="2304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20~40대 화장실 앱 사용 의향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841248"/>
            <a:ext cx="4069080" cy="2011680"/>
          </a:xfrm>
          <a:prstGeom prst="rect">
            <a:avLst/>
          </a:prstGeom>
          <a:solidFill>
            <a:srgbClr val="07050F"/>
          </a:solidFill>
          <a:ln w="12700">
            <a:solidFill>
              <a:srgbClr val="00E5A0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수익 모델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2618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프리미엄 구독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4996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3,900원 — AI 무제한 + 상세 리포트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764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제약/의료 B2B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0025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건강기능식품사 데이터 파트너십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267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타겟 광고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5054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프로바이오틱스·식이섬유 제품 추천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0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기대 효과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38328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0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383280"/>
            <a:ext cx="196596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45643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🚽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1480" y="3858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습관 개선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1148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체류 12분 → 2분 이하로 단축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32888" y="338328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2D7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32888" y="3383280"/>
            <a:ext cx="1965960" cy="64008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32888" y="345643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532888" y="3858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치질 예방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32888" y="41148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조기 경고로 항문 질환 발생 감소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54296" y="338328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4EDD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54296" y="3383280"/>
            <a:ext cx="1965960" cy="6400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54296" y="345643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654296" y="3858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헬스 코치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54296" y="41148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개인화된 식단 + 배변 통합 관리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75704" y="338328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75704" y="3383280"/>
            <a:ext cx="196596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75704" y="345643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775704" y="3858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축적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75704" y="41148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건강 트렌드 분석 가능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4572000" cy="4572000"/>
          </a:xfrm>
          <a:prstGeom prst="ellipse">
            <a:avLst/>
          </a:prstGeom>
          <a:solidFill>
            <a:srgbClr val="9D4EDD">
              <a:alpha val="8000"/>
            </a:srgbClr>
          </a:solidFill>
          <a:ln w="12700">
            <a:solidFill>
              <a:srgbClr val="9D4ED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FFD60A">
              <a:alpha val="10000"/>
            </a:srgbClr>
          </a:solidFill>
          <a:ln w="12700">
            <a:solidFill>
              <a:srgbClr val="FFD60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54864" cy="50292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1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개발 로드맵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2066544"/>
            <a:ext cx="7498080" cy="0"/>
          </a:xfrm>
          <a:prstGeom prst="line">
            <a:avLst/>
          </a:prstGeom>
          <a:noFill/>
          <a:ln w="25400">
            <a:solidFill>
              <a:srgbClr val="2A2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810512"/>
            <a:ext cx="512064" cy="512064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487168"/>
            <a:ext cx="1965960" cy="2331720"/>
          </a:xfrm>
          <a:prstGeom prst="rect">
            <a:avLst/>
          </a:prstGeom>
          <a:solidFill>
            <a:srgbClr val="1A1535"/>
          </a:solidFill>
          <a:ln w="12700">
            <a:solidFill>
              <a:srgbClr val="FF6B00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487168"/>
            <a:ext cx="196596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603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79806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출시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09067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Q3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" y="34015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타이머 &amp; 뽀직이 캐릭터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371246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배변 기록 + 캘린더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" y="40233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Bristol Scale 입력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" y="43342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기본 건강 통계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1335024"/>
            <a:ext cx="1325880" cy="347472"/>
          </a:xfrm>
          <a:prstGeom prst="rect">
            <a:avLst/>
          </a:prstGeom>
          <a:solidFill>
            <a:srgbClr val="00E5A0">
              <a:alpha val="30000"/>
            </a:srgbClr>
          </a:solidFill>
          <a:ln w="12700">
            <a:solidFill>
              <a:srgbClr val="00E5A0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13350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1810512"/>
            <a:ext cx="512064" cy="512064"/>
          </a:xfrm>
          <a:prstGeom prst="ellipse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2487168"/>
            <a:ext cx="1965960" cy="2331720"/>
          </a:xfrm>
          <a:prstGeom prst="rect">
            <a:avLst/>
          </a:prstGeom>
          <a:solidFill>
            <a:srgbClr val="1A1535"/>
          </a:solidFill>
          <a:ln w="12700">
            <a:solidFill>
              <a:srgbClr val="00BFFF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2487168"/>
            <a:ext cx="196596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25603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68880" y="279806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기능 강화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309067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Q4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96896" y="34015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식단 추천 시스템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96896" y="371246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건강 점수 알고리즘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96896" y="40233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특별 알림 시스템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96896" y="43342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식사 기록 로그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88920" y="1335024"/>
            <a:ext cx="1325880" cy="347472"/>
          </a:xfrm>
          <a:prstGeom prst="rect">
            <a:avLst/>
          </a:prstGeom>
          <a:solidFill>
            <a:srgbClr val="00BFFF">
              <a:alpha val="30000"/>
            </a:srgbClr>
          </a:solidFill>
          <a:ln w="12700">
            <a:solidFill>
              <a:srgbClr val="00BF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13350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49240" y="1810512"/>
            <a:ext cx="512064" cy="512064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2487168"/>
            <a:ext cx="1965960" cy="2331720"/>
          </a:xfrm>
          <a:prstGeom prst="rect">
            <a:avLst/>
          </a:prstGeom>
          <a:solidFill>
            <a:srgbClr val="1A1535"/>
          </a:solidFill>
          <a:ln w="12700">
            <a:solidFill>
              <a:srgbClr val="00E5A0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2487168"/>
            <a:ext cx="196596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25603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0" y="279806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소셜 &amp; 수익화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0" y="309067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0016" y="34015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프리미엄 구독 모델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0016" y="371246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SNS 공유 기능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0016" y="40233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주간 리포트 PDF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0016" y="43342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의료기관 연계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92040" y="1335024"/>
            <a:ext cx="1325880" cy="347472"/>
          </a:xfrm>
          <a:prstGeom prst="rect">
            <a:avLst/>
          </a:prstGeom>
          <a:solidFill>
            <a:srgbClr val="FFD60A">
              <a:alpha val="30000"/>
            </a:srgbClr>
          </a:solidFill>
          <a:ln w="12700">
            <a:solidFill>
              <a:srgbClr val="FFD60A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13350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52360" y="1810512"/>
            <a:ext cx="512064" cy="512064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75120" y="2487168"/>
            <a:ext cx="1965960" cy="2331720"/>
          </a:xfrm>
          <a:prstGeom prst="rect">
            <a:avLst/>
          </a:prstGeom>
          <a:solidFill>
            <a:srgbClr val="1A1535"/>
          </a:solidFill>
          <a:ln w="12700">
            <a:solidFill>
              <a:srgbClr val="C77DFF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675120" y="2487168"/>
            <a:ext cx="1965960" cy="6400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25603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75120" y="279806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헬스케어 플랫폼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675120" y="309067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Q2~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03136" y="34015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웨어러블 기기 연동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03136" y="371246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B2B 파트너십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03136" y="40233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글로벌 출시 (일본·동남아)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03136" y="43342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장건강 종합 앱 확장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95160" y="1335024"/>
            <a:ext cx="1325880" cy="347472"/>
          </a:xfrm>
          <a:prstGeom prst="rect">
            <a:avLst/>
          </a:prstGeom>
          <a:solidFill>
            <a:srgbClr val="7A7095">
              <a:alpha val="30000"/>
            </a:srgbClr>
          </a:solidFill>
          <a:ln w="12700">
            <a:solidFill>
              <a:srgbClr val="7A7095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95160" y="13350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4572000" cy="4572000"/>
          </a:xfrm>
          <a:prstGeom prst="ellipse">
            <a:avLst/>
          </a:prstGeom>
          <a:solidFill>
            <a:srgbClr val="9D4EDD">
              <a:alpha val="8000"/>
            </a:srgbClr>
          </a:solidFill>
          <a:ln w="12700">
            <a:solidFill>
              <a:srgbClr val="9D4ED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FF6B00">
              <a:alpha val="10000"/>
            </a:srgbClr>
          </a:solidFill>
          <a:ln w="12700">
            <a:solidFill>
              <a:srgbClr val="FF6B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0" y="274320"/>
            <a:ext cx="3474720" cy="3474720"/>
          </a:xfrm>
          <a:prstGeom prst="ellipse">
            <a:avLst/>
          </a:prstGeom>
          <a:solidFill>
            <a:srgbClr val="FF6B00">
              <a:alpha val="12000"/>
            </a:srgbClr>
          </a:solidFill>
          <a:ln w="12700">
            <a:solidFill>
              <a:srgbClr val="FF6B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640080"/>
            <a:ext cx="2743200" cy="2743200"/>
          </a:xfrm>
          <a:prstGeom prst="ellipse">
            <a:avLst/>
          </a:prstGeom>
          <a:solidFill>
            <a:srgbClr val="FFD60A">
              <a:alpha val="16000"/>
            </a:srgbClr>
          </a:solidFill>
          <a:ln w="12700">
            <a:solidFill>
              <a:srgbClr val="FFD6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86868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0" dirty="0">
                <a:solidFill>
                  <a:srgbClr val="000000"/>
                </a:solidFill>
              </a:rPr>
              <a:t>🚽</a:t>
            </a:r>
            <a:endParaRPr lang="en-US" sz="8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뽀직이와 함께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건강한 화장실 습관을!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습관 하나가 장 건강을 바꿉니다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4526280"/>
            <a:ext cx="2194560" cy="502920"/>
          </a:xfrm>
          <a:prstGeom prst="rect">
            <a:avLst/>
          </a:prstGeom>
          <a:solidFill>
            <a:srgbClr val="1A1535"/>
          </a:solidFill>
          <a:ln w="12700">
            <a:solidFill>
              <a:srgbClr val="332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53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이남혁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77316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UMC Plan파트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0" y="4526280"/>
            <a:ext cx="2194560" cy="502920"/>
          </a:xfrm>
          <a:prstGeom prst="rect">
            <a:avLst/>
          </a:prstGeom>
          <a:solidFill>
            <a:srgbClr val="1A1535"/>
          </a:solidFill>
          <a:ln w="12700">
            <a:solidFill>
              <a:srgbClr val="332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4553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UMC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477316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Mobile Club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4526280"/>
            <a:ext cx="2194560" cy="502920"/>
          </a:xfrm>
          <a:prstGeom prst="rect">
            <a:avLst/>
          </a:prstGeom>
          <a:solidFill>
            <a:srgbClr val="1A1535"/>
          </a:solidFill>
          <a:ln w="12700">
            <a:solidFill>
              <a:srgbClr val="332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4553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뽀직이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477316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화장실 건강 앱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뽀직이 서비스 기획서</dc:title>
  <dc:subject>PptxGenJS Presentation</dc:subject>
  <dc:creator>이남혁 - UMC Plan파트</dc:creator>
  <cp:lastModifiedBy>이남혁 - UMC Plan파트</cp:lastModifiedBy>
  <cp:revision>1</cp:revision>
  <dcterms:created xsi:type="dcterms:W3CDTF">2026-03-11T06:15:31Z</dcterms:created>
  <dcterms:modified xsi:type="dcterms:W3CDTF">2026-03-11T06:15:31Z</dcterms:modified>
</cp:coreProperties>
</file>